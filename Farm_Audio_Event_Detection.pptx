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Course: AI in Signal &amp; Audio Processing. Project: continuous farmyard audio event detection.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Frames the whole system before diving into details: input, target classes, outputs, and where preprocessing sits in the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project as a black-box system: raw audio in, structured events out. Sets up why preprocessing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Illustrates why the task is not simple clip classification: sparsity, overlap, and timing precision all drive design choices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Shows how raw ESC-50 folders map cleanly to labels and folds, with no manual annotation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Five-step pipeline from raw folders to fold-based feature files. Emphasize why fixed-size, consistent features matter for training.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Explains the feature representation choice and the rationale for multi-resolution channels, tying each n_fft/hop pair to the animal sounds it targets.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Classic 5-fold cross-validation grid: each experiment holds out one fold for validation and trains on the rest.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Explains the sliding-window scan used at inference: window/hop choice, and the silence threshold used to filter low-energy windows before event post-processing.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Wrap-up: what's implemented, what's not yet done, and the concrete next steps toward the final event-detection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400000">
            <a:off x="9966960" y="-548640"/>
            <a:ext cx="2926080" cy="2926080"/>
          </a:xfrm>
          <a:prstGeom prst="triangle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 rot="5400000">
            <a:off x="10607040" y="-274320"/>
            <a:ext cx="2194560" cy="2194560"/>
          </a:xfrm>
          <a:prstGeom prst="triangle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10104120" y="457200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04120" y="48463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EPITA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104120" y="76809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· AI Systems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502920"/>
            <a:ext cx="548640" cy="54864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8" name="Shape 6"/>
          <p:cNvSpPr/>
          <p:nvPr/>
        </p:nvSpPr>
        <p:spPr>
          <a:xfrm>
            <a:off x="606247" y="717713"/>
            <a:ext cx="60350" cy="11905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699516" y="671791"/>
            <a:ext cx="60350" cy="21089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792785" y="624169"/>
            <a:ext cx="60350" cy="30614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886054" y="683697"/>
            <a:ext cx="60350" cy="18708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979322" y="722815"/>
            <a:ext cx="60350" cy="108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SIGNAL &amp; AUDIO PROCESSING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246888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Farm Audio Event Detection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548640" y="34290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animal sound events in continuous farmyard recordings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8640" y="5989320"/>
            <a:ext cx="1106424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6126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 Kim Truong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EPITA, M1 Artificial Intelligence Systems   ·   July 15,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12064" cy="51206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02407" y="584521"/>
            <a:ext cx="56327" cy="11111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689458" y="541661"/>
            <a:ext cx="56327" cy="19683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76508" y="497214"/>
            <a:ext cx="56327" cy="2857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863559" y="552773"/>
            <a:ext cx="56327" cy="17461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950610" y="589283"/>
            <a:ext cx="56327" cy="10159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207008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07008" y="530352"/>
            <a:ext cx="9601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Goal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9692640" y="65105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Audio Event Detection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1417320"/>
            <a:ext cx="5669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animal sound events in continuous farmyard recordings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event start time, end time, and label for each detection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waveform / spectrogram visualization with event markers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focus: the preprocessing foundation the rest of the system relies 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3703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ANIMALS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069080"/>
            <a:ext cx="566928" cy="5669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069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11480" y="468172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572768" y="4069080"/>
            <a:ext cx="566928" cy="5669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1572768" y="4069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35608" y="468172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596896" y="4069080"/>
            <a:ext cx="566928" cy="56692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2596896" y="4069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459736" y="468172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21024" y="4069080"/>
            <a:ext cx="566928" cy="56692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3621024" y="4069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483864" y="468172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rooster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45152" y="4069080"/>
            <a:ext cx="566928" cy="566928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26" name="Text 24"/>
          <p:cNvSpPr/>
          <p:nvPr/>
        </p:nvSpPr>
        <p:spPr>
          <a:xfrm>
            <a:off x="4645152" y="4069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507992" y="468172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sheep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629400" y="1371600"/>
            <a:ext cx="5029200" cy="4663440"/>
          </a:xfrm>
          <a:prstGeom prst="roundRect">
            <a:avLst>
              <a:gd name="adj" fmla="val 1961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3B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903720" y="1554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ROADMAP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903720" y="1965960"/>
            <a:ext cx="44805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40880" y="2084832"/>
            <a:ext cx="420624" cy="420624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32" name="Text 30"/>
          <p:cNvSpPr/>
          <p:nvPr/>
        </p:nvSpPr>
        <p:spPr>
          <a:xfrm>
            <a:off x="7040880" y="20848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589520" y="202082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Farmyard recording (.wav)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589520" y="227685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continuous audio input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251192" y="2624328"/>
            <a:ext cx="0" cy="146304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6903720" y="2770632"/>
            <a:ext cx="4480560" cy="658368"/>
          </a:xfrm>
          <a:prstGeom prst="roundRect">
            <a:avLst>
              <a:gd name="adj" fmla="val 11111"/>
            </a:avLst>
          </a:prstGeom>
          <a:solidFill>
            <a:srgbClr val="FFFBEB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040880" y="2889504"/>
            <a:ext cx="420624" cy="42062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8" name="Text 36"/>
          <p:cNvSpPr/>
          <p:nvPr/>
        </p:nvSpPr>
        <p:spPr>
          <a:xfrm>
            <a:off x="7040880" y="28895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589520" y="282549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589520" y="308152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Log-Mel features, folds, sliding windows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0561320" y="2990088"/>
            <a:ext cx="777240" cy="219456"/>
          </a:xfrm>
          <a:prstGeom prst="rect">
            <a:avLst/>
          </a:prstGeom>
          <a:solidFill>
            <a:srgbClr val="D9770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7251192" y="3429000"/>
            <a:ext cx="0" cy="146304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6903720" y="3575304"/>
            <a:ext cx="44805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040880" y="3694176"/>
            <a:ext cx="420624" cy="420624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45" name="Text 43"/>
          <p:cNvSpPr/>
          <p:nvPr/>
        </p:nvSpPr>
        <p:spPr>
          <a:xfrm>
            <a:off x="7040880" y="36941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7589520" y="363016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7589520" y="388620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on labeled clips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7251192" y="4233672"/>
            <a:ext cx="0" cy="146304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>
            <a:off x="6903720" y="4379976"/>
            <a:ext cx="44805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040880" y="4498848"/>
            <a:ext cx="420624" cy="420624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51" name="Text 49"/>
          <p:cNvSpPr/>
          <p:nvPr/>
        </p:nvSpPr>
        <p:spPr>
          <a:xfrm>
            <a:off x="7040880" y="44988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7589520" y="443484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inference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7589520" y="469087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full recording, predict per window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7251192" y="5038344"/>
            <a:ext cx="0" cy="146304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55" name="Shape 53"/>
          <p:cNvSpPr/>
          <p:nvPr/>
        </p:nvSpPr>
        <p:spPr>
          <a:xfrm>
            <a:off x="6903720" y="5184648"/>
            <a:ext cx="44805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040880" y="5303520"/>
            <a:ext cx="420624" cy="420624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57" name="Text 55"/>
          <p:cNvSpPr/>
          <p:nvPr/>
        </p:nvSpPr>
        <p:spPr>
          <a:xfrm>
            <a:off x="7040880" y="5303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7589520" y="523951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report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7589520" y="549554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+ visualization with markers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457200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12064" cy="51206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02407" y="584521"/>
            <a:ext cx="56327" cy="11111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689458" y="541661"/>
            <a:ext cx="56327" cy="19683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76508" y="497214"/>
            <a:ext cx="56327" cy="2857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863559" y="552773"/>
            <a:ext cx="56327" cy="17461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950610" y="589283"/>
            <a:ext cx="56327" cy="10159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207008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IN / OUT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07008" y="530352"/>
            <a:ext cx="9601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Farm Recording to Animal Events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9692640" y="65105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Audio Event Detection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920240"/>
            <a:ext cx="3246120" cy="3931920"/>
          </a:xfrm>
          <a:prstGeom prst="roundRect">
            <a:avLst>
              <a:gd name="adj" fmla="val 2817"/>
            </a:avLst>
          </a:prstGeom>
          <a:solidFill>
            <a:srgbClr val="F8FAFC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3B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2960" y="219456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63040" y="224942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Input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2926080"/>
            <a:ext cx="2697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continuous .wav recording from the farmyard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may contain silence, noise, and animal sounds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must process the entire file automatically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60520" y="3291840"/>
            <a:ext cx="3840480" cy="1188720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/>
        </p:spPr>
      </p:sp>
      <p:sp>
        <p:nvSpPr>
          <p:cNvPr id="17" name="Text 15"/>
          <p:cNvSpPr/>
          <p:nvPr/>
        </p:nvSpPr>
        <p:spPr>
          <a:xfrm>
            <a:off x="4160520" y="329184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160520" y="38862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 → classify → post-process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840480" y="3803904"/>
            <a:ext cx="320040" cy="164592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20" name="Shape 18"/>
          <p:cNvSpPr/>
          <p:nvPr/>
        </p:nvSpPr>
        <p:spPr>
          <a:xfrm>
            <a:off x="8001000" y="3803904"/>
            <a:ext cx="320040" cy="164592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21" name="Shape 19"/>
          <p:cNvSpPr/>
          <p:nvPr/>
        </p:nvSpPr>
        <p:spPr>
          <a:xfrm>
            <a:off x="8412480" y="1920240"/>
            <a:ext cx="3246120" cy="3931920"/>
          </a:xfrm>
          <a:prstGeom prst="roundRect">
            <a:avLst>
              <a:gd name="adj" fmla="val 2817"/>
            </a:avLst>
          </a:prstGeom>
          <a:solidFill>
            <a:srgbClr val="F8FAFC"/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3B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686800" y="2194560"/>
            <a:ext cx="502920" cy="5029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326880" y="224942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Outputs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686800" y="2926080"/>
            <a:ext cx="2697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event report: start time, end time, label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Waveform / spectrogram visualization with event markers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detected event clearly identified by animal type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12064" cy="51206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" name="Shape 1"/>
          <p:cNvSpPr/>
          <p:nvPr/>
        </p:nvSpPr>
        <p:spPr>
          <a:xfrm>
            <a:off x="602407" y="584521"/>
            <a:ext cx="56327" cy="11111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689458" y="541661"/>
            <a:ext cx="56327" cy="19683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76508" y="497214"/>
            <a:ext cx="56327" cy="2857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863559" y="552773"/>
            <a:ext cx="56327" cy="17461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950610" y="589283"/>
            <a:ext cx="56327" cy="10159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207008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HARD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07008" y="530352"/>
            <a:ext cx="9601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Real Challenge: Continuous Audio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9692640" y="65105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Audio Event Detection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1508760"/>
            <a:ext cx="51206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clean 3-second clip classification</a:t>
            </a:r>
            <a:endParaRPr lang="en-US" sz="15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may overlap in time (e.g., dog + sheep)</a:t>
            </a:r>
            <a:endParaRPr lang="en-US" sz="15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the audio may be silence or background noise</a:t>
            </a:r>
            <a:endParaRPr lang="en-US" sz="15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Window-level predictions must become clean events</a:t>
            </a:r>
            <a:endParaRPr lang="en-US" sz="15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must be accurate within ±500 ms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943600" y="1463040"/>
            <a:ext cx="5715000" cy="4206240"/>
          </a:xfrm>
          <a:prstGeom prst="roundRect">
            <a:avLst>
              <a:gd name="adj" fmla="val 2174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3B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166420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TYPICAL RECORDING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2286000"/>
            <a:ext cx="5166360" cy="502920"/>
          </a:xfrm>
          <a:prstGeom prst="roundRect">
            <a:avLst>
              <a:gd name="adj" fmla="val 10909"/>
            </a:avLst>
          </a:prstGeom>
          <a:solidFill>
            <a:srgbClr val="E2E8F0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2843784"/>
            <a:ext cx="5166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silence / background noise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675120" y="2340864"/>
            <a:ext cx="822960" cy="393192"/>
          </a:xfrm>
          <a:prstGeom prst="roundRect">
            <a:avLst>
              <a:gd name="adj" fmla="val 11628"/>
            </a:avLst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0" y="31089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rooster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595360" y="2340864"/>
            <a:ext cx="1188720" cy="393192"/>
          </a:xfrm>
          <a:prstGeom prst="roundRect">
            <a:avLst>
              <a:gd name="adj" fmla="val 11628"/>
            </a:avLst>
          </a:prstGeom>
          <a:solidFill>
            <a:srgbClr val="2563EB">
              <a:alpha val="7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098280" y="2340864"/>
            <a:ext cx="1188720" cy="393192"/>
          </a:xfrm>
          <a:prstGeom prst="roundRect">
            <a:avLst>
              <a:gd name="adj" fmla="val 11628"/>
            </a:avLst>
          </a:prstGeom>
          <a:solidFill>
            <a:srgbClr val="0E7490">
              <a:alpha val="7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8595360" y="31089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098280" y="33375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sheep (overlap)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0424160" y="2340864"/>
            <a:ext cx="594360" cy="393192"/>
          </a:xfrm>
          <a:prstGeom prst="roundRect">
            <a:avLst>
              <a:gd name="adj" fmla="val 11628"/>
            </a:avLst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10424160" y="310896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17920" y="370332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boundaries must be located within ±500 ms of ground truth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040880" y="4251960"/>
            <a:ext cx="3520440" cy="777240"/>
          </a:xfrm>
          <a:prstGeom prst="roundRect">
            <a:avLst>
              <a:gd name="adj" fmla="val 9412"/>
            </a:avLst>
          </a:prstGeom>
          <a:solidFill>
            <a:srgbClr val="FFFBEB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0" y="429768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preprocessing uses overlapping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s sliding windows — see later slides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12064" cy="512064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3" name="Shape 1"/>
          <p:cNvSpPr/>
          <p:nvPr/>
        </p:nvSpPr>
        <p:spPr>
          <a:xfrm>
            <a:off x="602407" y="584521"/>
            <a:ext cx="56327" cy="11111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689458" y="541661"/>
            <a:ext cx="56327" cy="19683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76508" y="497214"/>
            <a:ext cx="56327" cy="2857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863559" y="552773"/>
            <a:ext cx="56327" cy="17461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950610" y="589283"/>
            <a:ext cx="56327" cy="10159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207008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ESC-50 SUBSET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07008" y="530352"/>
            <a:ext cx="9601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Seed Dataset Organization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9692640" y="65105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Audio Event Detection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1417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STRUCTURE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1783080"/>
            <a:ext cx="1737360" cy="502920"/>
          </a:xfrm>
          <a:prstGeom prst="roundRect">
            <a:avLst>
              <a:gd name="adj" fmla="val 12727"/>
            </a:avLst>
          </a:prstGeom>
          <a:solidFill>
            <a:srgbClr val="0F172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7830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dataset/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417320" y="2734056"/>
            <a:ext cx="50292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65960" y="2514600"/>
            <a:ext cx="1965960" cy="420624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65960" y="2514600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dataset/dog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417320" y="3246120"/>
            <a:ext cx="50292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65960" y="3026664"/>
            <a:ext cx="1965960" cy="420624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65960" y="3026664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dataset/cat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417320" y="3758184"/>
            <a:ext cx="50292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65960" y="3538728"/>
            <a:ext cx="1965960" cy="420624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 w="15875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65960" y="3538728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dataset/cow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417320" y="4270248"/>
            <a:ext cx="50292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65960" y="4050792"/>
            <a:ext cx="1965960" cy="420624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65960" y="4050792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dataset/rooster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417320" y="4782312"/>
            <a:ext cx="50292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65960" y="4562856"/>
            <a:ext cx="1965960" cy="420624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 w="15875">
            <a:solidFill>
              <a:srgbClr val="0E74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65960" y="4562856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dataset/sheep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1417320" y="5294376"/>
            <a:ext cx="50292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65960" y="5074920"/>
            <a:ext cx="1965960" cy="420624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 w="15875">
            <a:solidFill>
              <a:srgbClr val="6474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65960" y="5074920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dataset/others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48640" y="56235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Filename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the ESC-50 fold number, e.g. </a:t>
            </a:r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2-110010-A-5.wav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fold 2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400800" y="1417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MAPPING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0" y="1783080"/>
            <a:ext cx="237744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65392" y="2002536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6" name="Text 34"/>
          <p:cNvSpPr/>
          <p:nvPr/>
        </p:nvSpPr>
        <p:spPr>
          <a:xfrm>
            <a:off x="6565392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178040" y="19842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178040" y="22585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→ 0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006840" y="1783080"/>
            <a:ext cx="237744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171432" y="2002536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1" name="Text 39"/>
          <p:cNvSpPr/>
          <p:nvPr/>
        </p:nvSpPr>
        <p:spPr>
          <a:xfrm>
            <a:off x="9171432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9784080" y="19842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9784080" y="22585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→ 1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400800" y="2834640"/>
            <a:ext cx="237744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565392" y="3054096"/>
            <a:ext cx="457200" cy="45720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46" name="Text 44"/>
          <p:cNvSpPr/>
          <p:nvPr/>
        </p:nvSpPr>
        <p:spPr>
          <a:xfrm>
            <a:off x="6565392" y="3054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178040" y="30358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7178040" y="33101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→ 2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9006840" y="2834640"/>
            <a:ext cx="237744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171432" y="3054096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51" name="Text 49"/>
          <p:cNvSpPr/>
          <p:nvPr/>
        </p:nvSpPr>
        <p:spPr>
          <a:xfrm>
            <a:off x="9171432" y="3054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9784080" y="30358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rooster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9784080" y="33101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→ 3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6400800" y="3886200"/>
            <a:ext cx="237744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9050">
            <a:solidFill>
              <a:srgbClr val="0E749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565392" y="4105656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56" name="Text 54"/>
          <p:cNvSpPr/>
          <p:nvPr/>
        </p:nvSpPr>
        <p:spPr>
          <a:xfrm>
            <a:off x="6565392" y="4105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7178040" y="40873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sheep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7178040" y="43616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→ 4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9006840" y="3886200"/>
            <a:ext cx="237744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171432" y="4105656"/>
            <a:ext cx="457200" cy="45720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61" name="Text 59"/>
          <p:cNvSpPr/>
          <p:nvPr/>
        </p:nvSpPr>
        <p:spPr>
          <a:xfrm>
            <a:off x="9171432" y="4105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9784080" y="40873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9784080" y="43616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→ 5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6400800" y="5074920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labels, including an others / background class · folder name gives the label automatically · official 5-fold structure preserved for validation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457200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12064" cy="512064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3" name="Shape 1"/>
          <p:cNvSpPr/>
          <p:nvPr/>
        </p:nvSpPr>
        <p:spPr>
          <a:xfrm>
            <a:off x="602407" y="584521"/>
            <a:ext cx="56327" cy="11111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689458" y="541661"/>
            <a:ext cx="56327" cy="19683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76508" y="497214"/>
            <a:ext cx="56327" cy="2857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863559" y="552773"/>
            <a:ext cx="56327" cy="17461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950610" y="589283"/>
            <a:ext cx="56327" cy="10159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207008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CLIP-LEVEL PREPROCESSING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07008" y="530352"/>
            <a:ext cx="9601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 Pipeline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9692640" y="65105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Audio Event Detection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2103120"/>
            <a:ext cx="18745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22225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229868" y="2304288"/>
            <a:ext cx="512064" cy="51206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1229868" y="23042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21792" y="2926080"/>
            <a:ext cx="1728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.wav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21792" y="3474720"/>
            <a:ext cx="1728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class folders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459736" y="2889504"/>
            <a:ext cx="310896" cy="164592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17" name="Shape 15"/>
          <p:cNvSpPr/>
          <p:nvPr/>
        </p:nvSpPr>
        <p:spPr>
          <a:xfrm>
            <a:off x="2807208" y="2103120"/>
            <a:ext cx="18745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22225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488436" y="2304288"/>
            <a:ext cx="512064" cy="51206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3488436" y="23042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880360" y="2926080"/>
            <a:ext cx="1728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label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fold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880360" y="3474720"/>
            <a:ext cx="1728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path &amp; filename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18304" y="2889504"/>
            <a:ext cx="310896" cy="164592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23" name="Shape 21"/>
          <p:cNvSpPr/>
          <p:nvPr/>
        </p:nvSpPr>
        <p:spPr>
          <a:xfrm>
            <a:off x="5065776" y="2103120"/>
            <a:ext cx="18745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22225">
            <a:solidFill>
              <a:srgbClr val="0E7490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747004" y="2304288"/>
            <a:ext cx="512064" cy="512064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25" name="Text 23"/>
          <p:cNvSpPr/>
          <p:nvPr/>
        </p:nvSpPr>
        <p:spPr>
          <a:xfrm>
            <a:off x="5747004" y="23042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138928" y="2926080"/>
            <a:ext cx="1728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audio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138928" y="3474720"/>
            <a:ext cx="1728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Mono, 44.1 kHz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976872" y="2889504"/>
            <a:ext cx="310896" cy="164592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29" name="Shape 27"/>
          <p:cNvSpPr/>
          <p:nvPr/>
        </p:nvSpPr>
        <p:spPr>
          <a:xfrm>
            <a:off x="7324344" y="2103120"/>
            <a:ext cx="18745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22225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005572" y="2304288"/>
            <a:ext cx="512064" cy="51206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1" name="Text 29"/>
          <p:cNvSpPr/>
          <p:nvPr/>
        </p:nvSpPr>
        <p:spPr>
          <a:xfrm>
            <a:off x="8005572" y="23042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397496" y="2926080"/>
            <a:ext cx="1728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Log-Mel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397496" y="3474720"/>
            <a:ext cx="1728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3-channel, fixed size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235440" y="2889504"/>
            <a:ext cx="310896" cy="164592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35" name="Shape 33"/>
          <p:cNvSpPr/>
          <p:nvPr/>
        </p:nvSpPr>
        <p:spPr>
          <a:xfrm>
            <a:off x="9582912" y="2103120"/>
            <a:ext cx="18745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22225">
            <a:solidFill>
              <a:srgbClr val="059669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10264140" y="2304288"/>
            <a:ext cx="512064" cy="512064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7" name="Text 35"/>
          <p:cNvSpPr/>
          <p:nvPr/>
        </p:nvSpPr>
        <p:spPr>
          <a:xfrm>
            <a:off x="10264140" y="23042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9656064" y="2926080"/>
            <a:ext cx="1728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pickles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manifests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9656064" y="3474720"/>
            <a:ext cx="1728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fold_*.pkl, CSV, JSON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48640" y="4297680"/>
            <a:ext cx="11091672" cy="1417320"/>
          </a:xfrm>
          <a:prstGeom prst="roundRect">
            <a:avLst>
              <a:gd name="adj" fmla="val 6452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3B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822960" y="4480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 </a:t>
            </a:r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labeled WAV clips into consistent feature files ready for fold-based training. 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822960" y="48920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fixed-size features?  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consistent Log-Mel shape lets every clip — regardless of original length — feed the same model architecture, and lets fold files be concatenated safely for cross-validation.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57200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12064" cy="51206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" name="Shape 1"/>
          <p:cNvSpPr/>
          <p:nvPr/>
        </p:nvSpPr>
        <p:spPr>
          <a:xfrm>
            <a:off x="602407" y="584521"/>
            <a:ext cx="56327" cy="11111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689458" y="541661"/>
            <a:ext cx="56327" cy="19683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76508" y="497214"/>
            <a:ext cx="56327" cy="2857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863559" y="552773"/>
            <a:ext cx="56327" cy="17461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950610" y="589283"/>
            <a:ext cx="56327" cy="10159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207008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LOG-MEL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07008" y="530352"/>
            <a:ext cx="9601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Representation: 3-Channel Log-Mel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9692640" y="65105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Audio Event Detection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1463040"/>
            <a:ext cx="5029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Log-Mel spectrogram: an image-like view of sound (time × frequency × intensity)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Mel frequency bins × 250 time steps per channel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 scale matches human frequency perception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resolutions capture both fast and slow sounds in one input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309360" y="192024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059669">
              <a:alpha val="22000"/>
            </a:srgbClr>
          </a:solidFill>
          <a:ln w="22225">
            <a:solidFill>
              <a:srgbClr val="05966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173736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0E7490">
              <a:alpha val="22000"/>
            </a:srgbClr>
          </a:solidFill>
          <a:ln w="22225">
            <a:solidFill>
              <a:srgbClr val="0E74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155448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2563EB">
              <a:alpha val="22000"/>
            </a:srgbClr>
          </a:solidFill>
          <a:ln w="22225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18745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128 × 250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Log-Mel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943600" y="3657600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35844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Short  n_fft 1024 / hop 256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217920" y="380390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fast changes (barks)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943600" y="4114800"/>
            <a:ext cx="164592" cy="164592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40416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Medium n_fft 2048 / hop 512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217920" y="426110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view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943600" y="4572000"/>
            <a:ext cx="164592" cy="16459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0" y="44988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   n_fft 4096 / hop 1024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217920" y="471830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longer sounds (moos)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098280" y="2194560"/>
            <a:ext cx="274320" cy="146304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26" name="Shape 24"/>
          <p:cNvSpPr/>
          <p:nvPr/>
        </p:nvSpPr>
        <p:spPr>
          <a:xfrm>
            <a:off x="9464040" y="1554480"/>
            <a:ext cx="2176272" cy="1417320"/>
          </a:xfrm>
          <a:prstGeom prst="roundRect">
            <a:avLst>
              <a:gd name="adj" fmla="val 5806"/>
            </a:avLst>
          </a:prstGeom>
          <a:solidFill>
            <a:srgbClr val="0F172A"/>
          </a:solidFill>
          <a:ln/>
        </p:spPr>
      </p:sp>
      <p:sp>
        <p:nvSpPr>
          <p:cNvPr id="27" name="Text 25"/>
          <p:cNvSpPr/>
          <p:nvPr/>
        </p:nvSpPr>
        <p:spPr>
          <a:xfrm>
            <a:off x="9464040" y="178308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128 × 250 × 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464040" y="2240280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feature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 shape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160520"/>
          <a:ext cx="5029200" cy="1554480"/>
        </p:xfrm>
        <a:graphic>
          <a:graphicData uri="http://schemas.openxmlformats.org/drawingml/2006/table">
            <a:tbl>
              <a:tblPr/>
              <a:tblGrid>
                <a:gridCol w="1188720"/>
                <a:gridCol w="1280160"/>
                <a:gridCol w="1005840"/>
                <a:gridCol w="1554480"/>
              </a:tblGrid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n_fft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transients (barks)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2048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 trade-off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4096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longer sounds (moos)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5943600" y="4160520"/>
            <a:ext cx="5696712" cy="155448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3B">
                <a:alpha val="12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6172200" y="4343400"/>
            <a:ext cx="5257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three channels? 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FFT resolution trades time precision against frequency precision. Stacking short, medium, and long views as channels lets one model exploit both without choosing a single compromise.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457200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12064" cy="512064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3" name="Shape 1"/>
          <p:cNvSpPr/>
          <p:nvPr/>
        </p:nvSpPr>
        <p:spPr>
          <a:xfrm>
            <a:off x="602407" y="584521"/>
            <a:ext cx="56327" cy="11111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689458" y="541661"/>
            <a:ext cx="56327" cy="19683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76508" y="497214"/>
            <a:ext cx="56327" cy="2857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863559" y="552773"/>
            <a:ext cx="56327" cy="17461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950610" y="589283"/>
            <a:ext cx="56327" cy="10159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207008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07008" y="530352"/>
            <a:ext cx="9601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Keeping the ESC-50 Fold Split Clean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9692640" y="65105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Audio Event Detection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1508760"/>
            <a:ext cx="42976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ESC-50 provides 5 official folds for cross-validation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fold rotates from 1 to 5 across experiments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uses the other 4 folds each time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fold_1.pkl … fold_5.pkl with train / val splits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data leakage and ensures fair evaluation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25780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×  FOLD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126480" y="1673352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296912" y="1673352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467344" y="1673352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637776" y="1673352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808208" y="1673352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57800" y="1984248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1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26480" y="1984248"/>
            <a:ext cx="1097280" cy="566928"/>
          </a:xfrm>
          <a:prstGeom prst="roundRect">
            <a:avLst>
              <a:gd name="adj" fmla="val 8065"/>
            </a:avLst>
          </a:prstGeom>
          <a:solidFill>
            <a:srgbClr val="D97706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198424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296912" y="1984248"/>
            <a:ext cx="1097280" cy="566928"/>
          </a:xfrm>
          <a:prstGeom prst="roundRect">
            <a:avLst>
              <a:gd name="adj" fmla="val 8065"/>
            </a:avLst>
          </a:prstGeom>
          <a:solidFill>
            <a:srgbClr val="DBEAFE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96912" y="198424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467344" y="1984248"/>
            <a:ext cx="1097280" cy="566928"/>
          </a:xfrm>
          <a:prstGeom prst="roundRect">
            <a:avLst>
              <a:gd name="adj" fmla="val 8065"/>
            </a:avLst>
          </a:prstGeom>
          <a:solidFill>
            <a:srgbClr val="DBEAFE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67344" y="198424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637776" y="1984248"/>
            <a:ext cx="1097280" cy="566928"/>
          </a:xfrm>
          <a:prstGeom prst="roundRect">
            <a:avLst>
              <a:gd name="adj" fmla="val 8065"/>
            </a:avLst>
          </a:prstGeom>
          <a:solidFill>
            <a:srgbClr val="DBEAFE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37776" y="198424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0808208" y="1984248"/>
            <a:ext cx="1097280" cy="566928"/>
          </a:xfrm>
          <a:prstGeom prst="roundRect">
            <a:avLst>
              <a:gd name="adj" fmla="val 8065"/>
            </a:avLst>
          </a:prstGeom>
          <a:solidFill>
            <a:srgbClr val="DBEAFE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808208" y="198424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257800" y="269748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2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126480" y="2697480"/>
            <a:ext cx="1097280" cy="566928"/>
          </a:xfrm>
          <a:prstGeom prst="roundRect">
            <a:avLst>
              <a:gd name="adj" fmla="val 8065"/>
            </a:avLst>
          </a:prstGeom>
          <a:solidFill>
            <a:srgbClr val="DBEAFE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0" y="269748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296912" y="2697480"/>
            <a:ext cx="1097280" cy="566928"/>
          </a:xfrm>
          <a:prstGeom prst="roundRect">
            <a:avLst>
              <a:gd name="adj" fmla="val 8065"/>
            </a:avLst>
          </a:prstGeom>
          <a:solidFill>
            <a:srgbClr val="D97706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96912" y="269748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467344" y="2697480"/>
            <a:ext cx="1097280" cy="566928"/>
          </a:xfrm>
          <a:prstGeom prst="roundRect">
            <a:avLst>
              <a:gd name="adj" fmla="val 8065"/>
            </a:avLst>
          </a:prstGeom>
          <a:solidFill>
            <a:srgbClr val="DBEAFE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67344" y="269748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637776" y="2697480"/>
            <a:ext cx="1097280" cy="566928"/>
          </a:xfrm>
          <a:prstGeom prst="roundRect">
            <a:avLst>
              <a:gd name="adj" fmla="val 8065"/>
            </a:avLst>
          </a:prstGeom>
          <a:solidFill>
            <a:srgbClr val="DBEAFE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637776" y="269748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0808208" y="2697480"/>
            <a:ext cx="1097280" cy="566928"/>
          </a:xfrm>
          <a:prstGeom prst="roundRect">
            <a:avLst>
              <a:gd name="adj" fmla="val 8065"/>
            </a:avLst>
          </a:prstGeom>
          <a:solidFill>
            <a:srgbClr val="DBEAFE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808208" y="269748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257800" y="3410712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3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126480" y="3410712"/>
            <a:ext cx="1097280" cy="566928"/>
          </a:xfrm>
          <a:prstGeom prst="roundRect">
            <a:avLst>
              <a:gd name="adj" fmla="val 8065"/>
            </a:avLst>
          </a:prstGeom>
          <a:solidFill>
            <a:srgbClr val="DBEAFE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26480" y="3410712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296912" y="3410712"/>
            <a:ext cx="1097280" cy="566928"/>
          </a:xfrm>
          <a:prstGeom prst="roundRect">
            <a:avLst>
              <a:gd name="adj" fmla="val 8065"/>
            </a:avLst>
          </a:prstGeom>
          <a:solidFill>
            <a:srgbClr val="DBEAFE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96912" y="3410712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467344" y="3410712"/>
            <a:ext cx="1097280" cy="566928"/>
          </a:xfrm>
          <a:prstGeom prst="roundRect">
            <a:avLst>
              <a:gd name="adj" fmla="val 8065"/>
            </a:avLst>
          </a:prstGeom>
          <a:solidFill>
            <a:srgbClr val="D97706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467344" y="3410712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9637776" y="3410712"/>
            <a:ext cx="1097280" cy="566928"/>
          </a:xfrm>
          <a:prstGeom prst="roundRect">
            <a:avLst>
              <a:gd name="adj" fmla="val 8065"/>
            </a:avLst>
          </a:prstGeom>
          <a:solidFill>
            <a:srgbClr val="DBEAFE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637776" y="3410712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10808208" y="3410712"/>
            <a:ext cx="1097280" cy="566928"/>
          </a:xfrm>
          <a:prstGeom prst="roundRect">
            <a:avLst>
              <a:gd name="adj" fmla="val 8065"/>
            </a:avLst>
          </a:prstGeom>
          <a:solidFill>
            <a:srgbClr val="DBEAFE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808208" y="3410712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257800" y="4123944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4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126480" y="4123944"/>
            <a:ext cx="1097280" cy="566928"/>
          </a:xfrm>
          <a:prstGeom prst="roundRect">
            <a:avLst>
              <a:gd name="adj" fmla="val 8065"/>
            </a:avLst>
          </a:prstGeom>
          <a:solidFill>
            <a:srgbClr val="DBEAFE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126480" y="4123944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296912" y="4123944"/>
            <a:ext cx="1097280" cy="566928"/>
          </a:xfrm>
          <a:prstGeom prst="roundRect">
            <a:avLst>
              <a:gd name="adj" fmla="val 8065"/>
            </a:avLst>
          </a:prstGeom>
          <a:solidFill>
            <a:srgbClr val="DBEAFE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296912" y="4123944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8467344" y="4123944"/>
            <a:ext cx="1097280" cy="566928"/>
          </a:xfrm>
          <a:prstGeom prst="roundRect">
            <a:avLst>
              <a:gd name="adj" fmla="val 8065"/>
            </a:avLst>
          </a:prstGeom>
          <a:solidFill>
            <a:srgbClr val="DBEAFE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467344" y="4123944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9637776" y="4123944"/>
            <a:ext cx="1097280" cy="566928"/>
          </a:xfrm>
          <a:prstGeom prst="roundRect">
            <a:avLst>
              <a:gd name="adj" fmla="val 8065"/>
            </a:avLst>
          </a:prstGeom>
          <a:solidFill>
            <a:srgbClr val="D97706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637776" y="4123944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10808208" y="4123944"/>
            <a:ext cx="1097280" cy="566928"/>
          </a:xfrm>
          <a:prstGeom prst="roundRect">
            <a:avLst>
              <a:gd name="adj" fmla="val 8065"/>
            </a:avLst>
          </a:prstGeom>
          <a:solidFill>
            <a:srgbClr val="DBEAFE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0808208" y="4123944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5257800" y="4837176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5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6126480" y="4837176"/>
            <a:ext cx="1097280" cy="566928"/>
          </a:xfrm>
          <a:prstGeom prst="roundRect">
            <a:avLst>
              <a:gd name="adj" fmla="val 8065"/>
            </a:avLst>
          </a:prstGeom>
          <a:solidFill>
            <a:srgbClr val="DBEAFE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126480" y="4837176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7296912" y="4837176"/>
            <a:ext cx="1097280" cy="566928"/>
          </a:xfrm>
          <a:prstGeom prst="roundRect">
            <a:avLst>
              <a:gd name="adj" fmla="val 8065"/>
            </a:avLst>
          </a:prstGeom>
          <a:solidFill>
            <a:srgbClr val="DBEAFE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296912" y="4837176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8467344" y="4837176"/>
            <a:ext cx="1097280" cy="566928"/>
          </a:xfrm>
          <a:prstGeom prst="roundRect">
            <a:avLst>
              <a:gd name="adj" fmla="val 8065"/>
            </a:avLst>
          </a:prstGeom>
          <a:solidFill>
            <a:srgbClr val="DBEAFE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467344" y="4837176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9637776" y="4837176"/>
            <a:ext cx="1097280" cy="566928"/>
          </a:xfrm>
          <a:prstGeom prst="roundRect">
            <a:avLst>
              <a:gd name="adj" fmla="val 8065"/>
            </a:avLst>
          </a:prstGeom>
          <a:solidFill>
            <a:srgbClr val="DBEAFE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637776" y="4837176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10808208" y="4837176"/>
            <a:ext cx="1097280" cy="566928"/>
          </a:xfrm>
          <a:prstGeom prst="roundRect">
            <a:avLst>
              <a:gd name="adj" fmla="val 8065"/>
            </a:avLst>
          </a:prstGeom>
          <a:solidFill>
            <a:srgbClr val="D97706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0808208" y="4837176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6126480" y="5687568"/>
            <a:ext cx="256032" cy="201168"/>
          </a:xfrm>
          <a:prstGeom prst="roundRect">
            <a:avLst>
              <a:gd name="adj" fmla="val 18182"/>
            </a:avLst>
          </a:prstGeom>
          <a:solidFill>
            <a:srgbClr val="DBEAFE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446520" y="56418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folds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8275320" y="5687568"/>
            <a:ext cx="256032" cy="201168"/>
          </a:xfrm>
          <a:prstGeom prst="roundRect">
            <a:avLst>
              <a:gd name="adj" fmla="val 18182"/>
            </a:avLst>
          </a:prstGeom>
          <a:solidFill>
            <a:srgbClr val="D97706"/>
          </a:solidFill>
          <a:ln/>
        </p:spPr>
      </p:sp>
      <p:sp>
        <p:nvSpPr>
          <p:cNvPr id="76" name="Text 74"/>
          <p:cNvSpPr/>
          <p:nvPr/>
        </p:nvSpPr>
        <p:spPr>
          <a:xfrm>
            <a:off x="8595360" y="56418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fold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5257800" y="5349240"/>
            <a:ext cx="6263640" cy="777240"/>
          </a:xfrm>
          <a:prstGeom prst="roundRect">
            <a:avLst>
              <a:gd name="adj" fmla="val 11765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3B">
                <a:alpha val="12000"/>
              </a:srgbClr>
            </a:outerShdw>
          </a:effectLst>
        </p:spPr>
      </p:sp>
      <p:sp>
        <p:nvSpPr>
          <p:cNvPr id="78" name="Text 76"/>
          <p:cNvSpPr/>
          <p:nvPr/>
        </p:nvSpPr>
        <p:spPr>
          <a:xfrm>
            <a:off x="5486400" y="5486400"/>
            <a:ext cx="5806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rotate the fold? 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clip gets used for validation exactly once, so the reported accuracy reflects the whole dataset, not one lucky split.</a:t>
            </a:r>
            <a:endParaRPr lang="en-US" sz="1150" dirty="0"/>
          </a:p>
        </p:txBody>
      </p:sp>
      <p:sp>
        <p:nvSpPr>
          <p:cNvPr id="79" name="Text 77"/>
          <p:cNvSpPr/>
          <p:nvPr/>
        </p:nvSpPr>
        <p:spPr>
          <a:xfrm>
            <a:off x="457200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12064" cy="51206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" name="Shape 1"/>
          <p:cNvSpPr/>
          <p:nvPr/>
        </p:nvSpPr>
        <p:spPr>
          <a:xfrm>
            <a:off x="602407" y="584521"/>
            <a:ext cx="56327" cy="11111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689458" y="541661"/>
            <a:ext cx="56327" cy="19683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76508" y="497214"/>
            <a:ext cx="56327" cy="2857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863559" y="552773"/>
            <a:ext cx="56327" cy="17461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950610" y="589283"/>
            <a:ext cx="56327" cy="10159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207008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INFERENCE-TIME PREPROCESSING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07008" y="530352"/>
            <a:ext cx="9601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Scanning Long Audio with Sliding Windows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9692640" y="65105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Audio Event Detection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1463040"/>
            <a:ext cx="5120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input is not pre-cut into clips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3.0-second windows — matches the training clip length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0.5-second hop — moves forward with heavy overlap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gives enough margin for ±500 ms timing accuracy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 loudness (dB) stored per window; low-energy windows flagged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0" y="1463040"/>
            <a:ext cx="5696712" cy="3108960"/>
          </a:xfrm>
          <a:prstGeom prst="roundRect">
            <a:avLst>
              <a:gd name="adj" fmla="val 2941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3B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16459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WINDOW OVER AUDIO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2148840"/>
            <a:ext cx="5166360" cy="365760"/>
          </a:xfrm>
          <a:prstGeom prst="roundRect">
            <a:avLst>
              <a:gd name="adj" fmla="val 12500"/>
            </a:avLst>
          </a:prstGeom>
          <a:solidFill>
            <a:srgbClr val="E2E8F0"/>
          </a:solidFill>
          <a:ln/>
        </p:spPr>
      </p:sp>
      <p:sp>
        <p:nvSpPr>
          <p:cNvPr id="15" name="Shape 13"/>
          <p:cNvSpPr/>
          <p:nvPr/>
        </p:nvSpPr>
        <p:spPr>
          <a:xfrm>
            <a:off x="6355080" y="1947672"/>
            <a:ext cx="1737360" cy="768096"/>
          </a:xfrm>
          <a:prstGeom prst="roundRect">
            <a:avLst>
              <a:gd name="adj" fmla="val 5952"/>
            </a:avLst>
          </a:prstGeom>
          <a:solidFill>
            <a:srgbClr val="2563EB">
              <a:alpha val="18000"/>
            </a:srgbClr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0" y="1801368"/>
            <a:ext cx="1737360" cy="768096"/>
          </a:xfrm>
          <a:prstGeom prst="roundRect">
            <a:avLst>
              <a:gd name="adj" fmla="val 5952"/>
            </a:avLst>
          </a:prstGeom>
          <a:solidFill>
            <a:srgbClr val="0E7490">
              <a:alpha val="18000"/>
            </a:srgbClr>
          </a:solidFill>
          <a:ln w="19050">
            <a:solidFill>
              <a:srgbClr val="0E74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60920" y="1655064"/>
            <a:ext cx="1737360" cy="768096"/>
          </a:xfrm>
          <a:prstGeom prst="roundRect">
            <a:avLst>
              <a:gd name="adj" fmla="val 5952"/>
            </a:avLst>
          </a:prstGeom>
          <a:solidFill>
            <a:srgbClr val="059669">
              <a:alpha val="18000"/>
            </a:srgbClr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63840" y="1508760"/>
            <a:ext cx="1737360" cy="768096"/>
          </a:xfrm>
          <a:prstGeom prst="roundRect">
            <a:avLst>
              <a:gd name="adj" fmla="val 5952"/>
            </a:avLst>
          </a:prstGeom>
          <a:solidFill>
            <a:srgbClr val="D97706">
              <a:alpha val="18000"/>
            </a:srgbClr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32004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1        window 2        window 3        window 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355080" y="16916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3.0 s window →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858000" y="15270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 = 0.5 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217920" y="32461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 LOUDNESS PER WINDOW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3940233"/>
            <a:ext cx="461772" cy="494607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4" name="Shape 22"/>
          <p:cNvSpPr/>
          <p:nvPr/>
        </p:nvSpPr>
        <p:spPr>
          <a:xfrm>
            <a:off x="6734556" y="4222865"/>
            <a:ext cx="461772" cy="211975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5" name="Shape 23"/>
          <p:cNvSpPr/>
          <p:nvPr/>
        </p:nvSpPr>
        <p:spPr>
          <a:xfrm>
            <a:off x="7251192" y="4293524"/>
            <a:ext cx="461772" cy="14131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6" name="Shape 24"/>
          <p:cNvSpPr/>
          <p:nvPr/>
        </p:nvSpPr>
        <p:spPr>
          <a:xfrm>
            <a:off x="7767828" y="3798916"/>
            <a:ext cx="461772" cy="63592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7" name="Shape 25"/>
          <p:cNvSpPr/>
          <p:nvPr/>
        </p:nvSpPr>
        <p:spPr>
          <a:xfrm>
            <a:off x="8284464" y="4364182"/>
            <a:ext cx="461772" cy="7065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8" name="Shape 26"/>
          <p:cNvSpPr/>
          <p:nvPr/>
        </p:nvSpPr>
        <p:spPr>
          <a:xfrm>
            <a:off x="8801100" y="3869575"/>
            <a:ext cx="461772" cy="565265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9" name="Shape 27"/>
          <p:cNvSpPr/>
          <p:nvPr/>
        </p:nvSpPr>
        <p:spPr>
          <a:xfrm>
            <a:off x="9317736" y="4194602"/>
            <a:ext cx="461772" cy="24023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0" name="Shape 28"/>
          <p:cNvSpPr/>
          <p:nvPr/>
        </p:nvSpPr>
        <p:spPr>
          <a:xfrm>
            <a:off x="9834372" y="3770653"/>
            <a:ext cx="461772" cy="664187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1" name="Shape 29"/>
          <p:cNvSpPr/>
          <p:nvPr/>
        </p:nvSpPr>
        <p:spPr>
          <a:xfrm>
            <a:off x="10351008" y="4251129"/>
            <a:ext cx="461772" cy="183711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2" name="Shape 30"/>
          <p:cNvSpPr/>
          <p:nvPr/>
        </p:nvSpPr>
        <p:spPr>
          <a:xfrm>
            <a:off x="10867644" y="3827180"/>
            <a:ext cx="461772" cy="6076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3" name="Shape 31"/>
          <p:cNvSpPr/>
          <p:nvPr/>
        </p:nvSpPr>
        <p:spPr>
          <a:xfrm>
            <a:off x="6217920" y="4152207"/>
            <a:ext cx="5166360" cy="0"/>
          </a:xfrm>
          <a:prstGeom prst="line">
            <a:avLst/>
          </a:prstGeom>
          <a:noFill/>
          <a:ln w="19050">
            <a:solidFill>
              <a:srgbClr val="D97706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10012680" y="3932751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-45 dB threshold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943600" y="4754880"/>
            <a:ext cx="5696712" cy="1234440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3B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172200" y="4919472"/>
            <a:ext cx="5257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3 s / 0.5 s? 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 matches the training clip length, so the model sees familiar input at inference time. A 0.5 s hop gives 2.5 s of overlap between consecutive windows — comfortably inside the ±500 ms accuracy target.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57200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12064" cy="512064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3" name="Shape 1"/>
          <p:cNvSpPr/>
          <p:nvPr/>
        </p:nvSpPr>
        <p:spPr>
          <a:xfrm>
            <a:off x="602407" y="657673"/>
            <a:ext cx="56327" cy="11111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689458" y="614813"/>
            <a:ext cx="56327" cy="19683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76508" y="570366"/>
            <a:ext cx="56327" cy="2857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863559" y="625925"/>
            <a:ext cx="56327" cy="17461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950610" y="662435"/>
            <a:ext cx="56327" cy="10159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207008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07008" y="585216"/>
            <a:ext cx="9601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Status, Limitations, and Next Steps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548640" y="1600200"/>
            <a:ext cx="384048" cy="384048"/>
          </a:xfrm>
          <a:prstGeom prst="ellipse">
            <a:avLst/>
          </a:prstGeom>
          <a:solidFill>
            <a:srgbClr val="059669"/>
          </a:solidFill>
          <a:ln w="15875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162763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scanning and preprocessing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2167128"/>
            <a:ext cx="384048" cy="384048"/>
          </a:xfrm>
          <a:prstGeom prst="ellipse">
            <a:avLst/>
          </a:prstGeom>
          <a:solidFill>
            <a:srgbClr val="059669"/>
          </a:solidFill>
          <a:ln w="15875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167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21945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Fold-based feature files (fold_1.pkl → fold_5.pkl)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2734056"/>
            <a:ext cx="384048" cy="384048"/>
          </a:xfrm>
          <a:prstGeom prst="ellipse">
            <a:avLst/>
          </a:prstGeom>
          <a:solidFill>
            <a:srgbClr val="059669"/>
          </a:solidFill>
          <a:ln w="15875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734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276148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Continuous-audio window preprocessing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3300984"/>
            <a:ext cx="384048" cy="384048"/>
          </a:xfrm>
          <a:prstGeom prst="ellipse">
            <a:avLst/>
          </a:prstGeom>
          <a:solidFill>
            <a:srgbClr val="1E293B"/>
          </a:solidFill>
          <a:ln w="15875">
            <a:solidFill>
              <a:srgbClr val="94A3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300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7280" y="332841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and final inference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492240" y="1463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92240" y="1828800"/>
            <a:ext cx="4754880" cy="566928"/>
          </a:xfrm>
          <a:prstGeom prst="roundRect">
            <a:avLst>
              <a:gd name="adj" fmla="val 12903"/>
            </a:avLst>
          </a:prstGeom>
          <a:solidFill>
            <a:srgbClr val="1E293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29400" y="1929384"/>
            <a:ext cx="365760" cy="36576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5" name="Text 23"/>
          <p:cNvSpPr/>
          <p:nvPr/>
        </p:nvSpPr>
        <p:spPr>
          <a:xfrm>
            <a:off x="6629400" y="1929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178040" y="182880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classifier model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812280" y="2395728"/>
            <a:ext cx="0" cy="128016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6492240" y="2523744"/>
            <a:ext cx="4754880" cy="566928"/>
          </a:xfrm>
          <a:prstGeom prst="roundRect">
            <a:avLst>
              <a:gd name="adj" fmla="val 12903"/>
            </a:avLst>
          </a:prstGeom>
          <a:solidFill>
            <a:srgbClr val="1E293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29400" y="2624328"/>
            <a:ext cx="365760" cy="36576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0" name="Text 28"/>
          <p:cNvSpPr/>
          <p:nvPr/>
        </p:nvSpPr>
        <p:spPr>
          <a:xfrm>
            <a:off x="6629400" y="2624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178040" y="2523744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inference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812280" y="3090672"/>
            <a:ext cx="0" cy="128016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6492240" y="3218688"/>
            <a:ext cx="4754880" cy="566928"/>
          </a:xfrm>
          <a:prstGeom prst="roundRect">
            <a:avLst>
              <a:gd name="adj" fmla="val 12903"/>
            </a:avLst>
          </a:prstGeom>
          <a:solidFill>
            <a:srgbClr val="1E293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629400" y="3319272"/>
            <a:ext cx="365760" cy="36576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5" name="Text 33"/>
          <p:cNvSpPr/>
          <p:nvPr/>
        </p:nvSpPr>
        <p:spPr>
          <a:xfrm>
            <a:off x="6629400" y="3319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178040" y="3218688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Post-processing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812280" y="3785616"/>
            <a:ext cx="0" cy="128016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6492240" y="3913632"/>
            <a:ext cx="4754880" cy="566928"/>
          </a:xfrm>
          <a:prstGeom prst="roundRect">
            <a:avLst>
              <a:gd name="adj" fmla="val 12903"/>
            </a:avLst>
          </a:prstGeom>
          <a:solidFill>
            <a:srgbClr val="1E293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629400" y="4014216"/>
            <a:ext cx="365760" cy="36576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40" name="Text 38"/>
          <p:cNvSpPr/>
          <p:nvPr/>
        </p:nvSpPr>
        <p:spPr>
          <a:xfrm>
            <a:off x="6629400" y="4014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178040" y="391363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report &amp; visualization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548640" y="5989320"/>
            <a:ext cx="1106424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" y="61081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57200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Farm Audio Event Detection</dc:title>
  <dc:subject>PptxGenJS Presentation</dc:subject>
  <dc:creator>Tan Kim Truong</dc:creator>
  <cp:lastModifiedBy>Tan Kim Truong</cp:lastModifiedBy>
  <cp:revision>1</cp:revision>
  <dcterms:created xsi:type="dcterms:W3CDTF">2026-07-15T10:03:38Z</dcterms:created>
  <dcterms:modified xsi:type="dcterms:W3CDTF">2026-07-15T10:03:38Z</dcterms:modified>
</cp:coreProperties>
</file>